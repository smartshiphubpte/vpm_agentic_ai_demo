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7D3B7F-B0E0-4522-B9B5-81B54B2F74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76B6D6-9119-4ECE-B366-E07FD303B1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6F5F11-26DB-4054-877B-156CEC323E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9883E0-BAE1-4BD5-9D66-993A0F3599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E853C7-9F70-4624-8D2B-7A7D548ECE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84CFF9-82E9-45AA-9979-7BD32C41AF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C93186-9825-44B1-B316-A73F36F3F4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D10C3D-576F-4524-9321-EFD1D47DE4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CFFABF-3C81-44F9-8064-98607F58E3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EB9748-3978-45E0-B154-C93BD89F8F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1C44E6-5439-4DA6-BAD4-D1BAD765EE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749520"/>
          </a:xfrm>
          <a:prstGeom prst="rect">
            <a:avLst/>
          </a:prstGeom>
          <a:solidFill>
            <a:srgbClr val="0B2E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365760" y="73080"/>
            <a:ext cx="11429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Inbox Agent  —  Email In, Clean Data Out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365760" y="438840"/>
            <a:ext cx="11429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ounded Rectangle 4"/>
          <p:cNvSpPr/>
          <p:nvPr/>
        </p:nvSpPr>
        <p:spPr>
          <a:xfrm>
            <a:off x="274320" y="868680"/>
            <a:ext cx="11639880" cy="438480"/>
          </a:xfrm>
          <a:prstGeom prst="roundRect">
            <a:avLst>
              <a:gd name="adj" fmla="val 16667"/>
            </a:avLst>
          </a:prstGeom>
          <a:solidFill>
            <a:srgbClr val="007A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365760" y="868680"/>
            <a:ext cx="1145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job:  grab new mail  →  figure out what it is  →  pull the numbers  →  check them  →  save once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6"/>
          <p:cNvSpPr/>
          <p:nvPr/>
        </p:nvSpPr>
        <p:spPr>
          <a:xfrm>
            <a:off x="320040" y="1444680"/>
            <a:ext cx="1663920" cy="1874160"/>
          </a:xfrm>
          <a:prstGeom prst="roundRect">
            <a:avLst>
              <a:gd name="adj" fmla="val 16667"/>
            </a:avLst>
          </a:prstGeom>
          <a:solidFill>
            <a:srgbClr val="0B2E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37476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 Grab mail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393120" y="2066400"/>
            <a:ext cx="151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Look only for NEW emails.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Remember where we left off.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ight Arrow 9"/>
          <p:cNvSpPr/>
          <p:nvPr/>
        </p:nvSpPr>
        <p:spPr>
          <a:xfrm>
            <a:off x="1984320" y="2249280"/>
            <a:ext cx="20088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F6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ounded Rectangle 10"/>
          <p:cNvSpPr/>
          <p:nvPr/>
        </p:nvSpPr>
        <p:spPr>
          <a:xfrm>
            <a:off x="2185560" y="1444680"/>
            <a:ext cx="1663920" cy="1874160"/>
          </a:xfrm>
          <a:prstGeom prst="roundRect">
            <a:avLst>
              <a:gd name="adj" fmla="val 16667"/>
            </a:avLst>
          </a:prstGeom>
          <a:solidFill>
            <a:srgbClr val="007A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224028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  Open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2258640" y="2066400"/>
            <a:ext cx="151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Read the body and any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Excel / CSV / PDF files.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ight Arrow 13"/>
          <p:cNvSpPr/>
          <p:nvPr/>
        </p:nvSpPr>
        <p:spPr>
          <a:xfrm>
            <a:off x="3849480" y="2249280"/>
            <a:ext cx="20088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F6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ounded Rectangle 14"/>
          <p:cNvSpPr/>
          <p:nvPr/>
        </p:nvSpPr>
        <p:spPr>
          <a:xfrm>
            <a:off x="4050720" y="1444680"/>
            <a:ext cx="1663920" cy="1874160"/>
          </a:xfrm>
          <a:prstGeom prst="roundRect">
            <a:avLst>
              <a:gd name="adj" fmla="val 16667"/>
            </a:avLst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15"/>
          <p:cNvSpPr/>
          <p:nvPr/>
        </p:nvSpPr>
        <p:spPr>
          <a:xfrm>
            <a:off x="410580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  Sort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6"/>
          <p:cNvSpPr/>
          <p:nvPr/>
        </p:nvSpPr>
        <p:spPr>
          <a:xfrm>
            <a:off x="4123800" y="2318400"/>
            <a:ext cx="151740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Validate the data coming from the excel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ight Arrow 17"/>
          <p:cNvSpPr/>
          <p:nvPr/>
        </p:nvSpPr>
        <p:spPr>
          <a:xfrm>
            <a:off x="5715000" y="2249280"/>
            <a:ext cx="20088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F6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ounded Rectangle 18"/>
          <p:cNvSpPr/>
          <p:nvPr/>
        </p:nvSpPr>
        <p:spPr>
          <a:xfrm>
            <a:off x="5916240" y="1444680"/>
            <a:ext cx="1663920" cy="1874160"/>
          </a:xfrm>
          <a:prstGeom prst="roundRect">
            <a:avLst>
              <a:gd name="adj" fmla="val 16667"/>
            </a:avLst>
          </a:prstGeom>
          <a:solidFill>
            <a:srgbClr val="E871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597096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  Pull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5989320" y="2066400"/>
            <a:ext cx="151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Turn messy text into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clean form.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ight Arrow 21"/>
          <p:cNvSpPr/>
          <p:nvPr/>
        </p:nvSpPr>
        <p:spPr>
          <a:xfrm>
            <a:off x="7580520" y="2249280"/>
            <a:ext cx="20088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F6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22"/>
          <p:cNvSpPr/>
          <p:nvPr/>
        </p:nvSpPr>
        <p:spPr>
          <a:xfrm>
            <a:off x="7781400" y="1444680"/>
            <a:ext cx="1663920" cy="1874160"/>
          </a:xfrm>
          <a:prstGeom prst="roundRect">
            <a:avLst>
              <a:gd name="adj" fmla="val 16667"/>
            </a:avLst>
          </a:prstGeom>
          <a:solidFill>
            <a:srgbClr val="1E8E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3"/>
          <p:cNvSpPr/>
          <p:nvPr/>
        </p:nvSpPr>
        <p:spPr>
          <a:xfrm>
            <a:off x="783648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  Check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4"/>
          <p:cNvSpPr/>
          <p:nvPr/>
        </p:nvSpPr>
        <p:spPr>
          <a:xfrm>
            <a:off x="7854840" y="2066400"/>
            <a:ext cx="151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Required fields? Right ship?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Units and time OK?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ight Arrow 25"/>
          <p:cNvSpPr/>
          <p:nvPr/>
        </p:nvSpPr>
        <p:spPr>
          <a:xfrm>
            <a:off x="9445680" y="2249280"/>
            <a:ext cx="20088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F6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ounded Rectangle 26"/>
          <p:cNvSpPr/>
          <p:nvPr/>
        </p:nvSpPr>
        <p:spPr>
          <a:xfrm>
            <a:off x="9646920" y="1444680"/>
            <a:ext cx="1663920" cy="1874160"/>
          </a:xfrm>
          <a:prstGeom prst="roundRect">
            <a:avLst>
              <a:gd name="adj" fmla="val 16667"/>
            </a:avLst>
          </a:prstGeom>
          <a:solidFill>
            <a:srgbClr val="6A1B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7"/>
          <p:cNvSpPr/>
          <p:nvPr/>
        </p:nvSpPr>
        <p:spPr>
          <a:xfrm>
            <a:off x="970164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  Save once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8"/>
          <p:cNvSpPr/>
          <p:nvPr/>
        </p:nvSpPr>
        <p:spPr>
          <a:xfrm>
            <a:off x="9720000" y="2066400"/>
            <a:ext cx="151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Write to the database.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If we already have it, skip.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29"/>
          <p:cNvSpPr/>
          <p:nvPr/>
        </p:nvSpPr>
        <p:spPr>
          <a:xfrm>
            <a:off x="274320" y="3474720"/>
            <a:ext cx="11639880" cy="141696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 w="15875">
            <a:solidFill>
              <a:srgbClr val="007A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30"/>
          <p:cNvSpPr/>
          <p:nvPr/>
        </p:nvSpPr>
        <p:spPr>
          <a:xfrm>
            <a:off x="411480" y="352944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B2E4A"/>
                </a:solidFill>
                <a:effectLst/>
                <a:uFillTx/>
                <a:latin typeface="Calibri"/>
              </a:rPr>
              <a:t>Safety net  —  if something goes wrong, we do NOT lose the email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31"/>
          <p:cNvSpPr/>
          <p:nvPr/>
        </p:nvSpPr>
        <p:spPr>
          <a:xfrm>
            <a:off x="457200" y="3858840"/>
            <a:ext cx="109440" cy="959760"/>
          </a:xfrm>
          <a:prstGeom prst="roundRect">
            <a:avLst>
              <a:gd name="adj" fmla="val 16667"/>
            </a:avLst>
          </a:prstGeom>
          <a:solidFill>
            <a:srgbClr val="E871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ounded Rectangle 32"/>
          <p:cNvSpPr/>
          <p:nvPr/>
        </p:nvSpPr>
        <p:spPr>
          <a:xfrm>
            <a:off x="567000" y="3858840"/>
            <a:ext cx="258732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871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33"/>
          <p:cNvSpPr/>
          <p:nvPr/>
        </p:nvSpPr>
        <p:spPr>
          <a:xfrm>
            <a:off x="658440" y="389520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710A"/>
                </a:solidFill>
                <a:effectLst/>
                <a:uFillTx/>
                <a:latin typeface="Calibri"/>
              </a:rPr>
              <a:t>Retry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4"/>
          <p:cNvSpPr/>
          <p:nvPr/>
        </p:nvSpPr>
        <p:spPr>
          <a:xfrm>
            <a:off x="658440" y="4151520"/>
            <a:ext cx="2422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Temporary glitch</a:t>
            </a:r>
            <a:br>
              <a:rPr sz="1100"/>
            </a:br>
            <a:r>
              <a:rPr lang="en-US" sz="11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(network / DB).</a:t>
            </a:r>
            <a:br>
              <a:rPr sz="1100"/>
            </a:br>
            <a:r>
              <a:rPr lang="en-US" sz="11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Try again.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35"/>
          <p:cNvSpPr/>
          <p:nvPr/>
        </p:nvSpPr>
        <p:spPr>
          <a:xfrm>
            <a:off x="3300840" y="3858840"/>
            <a:ext cx="109440" cy="959760"/>
          </a:xfrm>
          <a:prstGeom prst="roundRect">
            <a:avLst>
              <a:gd name="adj" fmla="val 16667"/>
            </a:avLst>
          </a:prstGeom>
          <a:solidFill>
            <a:srgbClr val="C522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ounded Rectangle 36"/>
          <p:cNvSpPr/>
          <p:nvPr/>
        </p:nvSpPr>
        <p:spPr>
          <a:xfrm>
            <a:off x="3410640" y="3858840"/>
            <a:ext cx="258732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522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7"/>
          <p:cNvSpPr/>
          <p:nvPr/>
        </p:nvSpPr>
        <p:spPr>
          <a:xfrm>
            <a:off x="3502080" y="389520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5221F"/>
                </a:solidFill>
                <a:effectLst/>
                <a:uFillTx/>
                <a:latin typeface="Calibri"/>
              </a:rPr>
              <a:t>Dead letter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8"/>
          <p:cNvSpPr/>
          <p:nvPr/>
        </p:nvSpPr>
        <p:spPr>
          <a:xfrm>
            <a:off x="3502080" y="4151520"/>
            <a:ext cx="2422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Broken / poison mail.</a:t>
            </a:r>
            <a:br>
              <a:rPr sz="1100"/>
            </a:br>
            <a:r>
              <a:rPr lang="en-US" sz="11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Park it. Keep 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39"/>
          <p:cNvSpPr/>
          <p:nvPr/>
        </p:nvSpPr>
        <p:spPr>
          <a:xfrm>
            <a:off x="6144840" y="3858840"/>
            <a:ext cx="109440" cy="959760"/>
          </a:xfrm>
          <a:prstGeom prst="roundRect">
            <a:avLst>
              <a:gd name="adj" fmla="val 16667"/>
            </a:avLst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40"/>
          <p:cNvSpPr/>
          <p:nvPr/>
        </p:nvSpPr>
        <p:spPr>
          <a:xfrm>
            <a:off x="6254640" y="3858840"/>
            <a:ext cx="258732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A73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41"/>
          <p:cNvSpPr/>
          <p:nvPr/>
        </p:nvSpPr>
        <p:spPr>
          <a:xfrm>
            <a:off x="6346080" y="389520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73E8"/>
                </a:solidFill>
                <a:effectLst/>
                <a:uFillTx/>
                <a:latin typeface="Calibri"/>
              </a:rPr>
              <a:t>Replay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42"/>
          <p:cNvSpPr/>
          <p:nvPr/>
        </p:nvSpPr>
        <p:spPr>
          <a:xfrm>
            <a:off x="6346080" y="4151520"/>
            <a:ext cx="2422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A person can say</a:t>
            </a:r>
            <a:br>
              <a:rPr sz="1100"/>
            </a:br>
            <a:r>
              <a:rPr lang="en-US" sz="11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“try this one again”.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43"/>
          <p:cNvSpPr/>
          <p:nvPr/>
        </p:nvSpPr>
        <p:spPr>
          <a:xfrm>
            <a:off x="8988480" y="3858840"/>
            <a:ext cx="109440" cy="959760"/>
          </a:xfrm>
          <a:prstGeom prst="roundRect">
            <a:avLst>
              <a:gd name="adj" fmla="val 16667"/>
            </a:avLst>
          </a:prstGeom>
          <a:solidFill>
            <a:srgbClr val="007A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44"/>
          <p:cNvSpPr/>
          <p:nvPr/>
        </p:nvSpPr>
        <p:spPr>
          <a:xfrm>
            <a:off x="9098280" y="3858840"/>
            <a:ext cx="258732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7A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45"/>
          <p:cNvSpPr/>
          <p:nvPr/>
        </p:nvSpPr>
        <p:spPr>
          <a:xfrm>
            <a:off x="9189720" y="389520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7A8C"/>
                </a:solidFill>
                <a:effectLst/>
                <a:uFillTx/>
                <a:latin typeface="Calibri"/>
              </a:rPr>
              <a:t>Watch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46"/>
          <p:cNvSpPr/>
          <p:nvPr/>
        </p:nvSpPr>
        <p:spPr>
          <a:xfrm>
            <a:off x="9189720" y="4151520"/>
            <a:ext cx="2422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Alerts if the pile grows</a:t>
            </a:r>
            <a:br>
              <a:rPr sz="1100"/>
            </a:br>
            <a:r>
              <a:rPr lang="en-US" sz="11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or the mailbox dies.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47"/>
          <p:cNvSpPr/>
          <p:nvPr/>
        </p:nvSpPr>
        <p:spPr>
          <a:xfrm>
            <a:off x="274320" y="5029200"/>
            <a:ext cx="11639880" cy="162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B2E4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48"/>
          <p:cNvSpPr/>
          <p:nvPr/>
        </p:nvSpPr>
        <p:spPr>
          <a:xfrm>
            <a:off x="411480" y="507492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9"/>
          <p:cNvSpPr/>
          <p:nvPr/>
        </p:nvSpPr>
        <p:spPr>
          <a:xfrm>
            <a:off x="411480" y="5322960"/>
            <a:ext cx="11338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Safe automation</a:t>
            </a:r>
            <a:r>
              <a:rPr lang="en-US" sz="12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, every day, in production: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50"/>
          <p:cNvSpPr/>
          <p:nvPr/>
        </p:nvSpPr>
        <p:spPr>
          <a:xfrm>
            <a:off x="457200" y="5632560"/>
            <a:ext cx="2697120" cy="868320"/>
          </a:xfrm>
          <a:prstGeom prst="roundRect">
            <a:avLst>
              <a:gd name="adj" fmla="val 16667"/>
            </a:avLst>
          </a:prstGeom>
          <a:solidFill>
            <a:srgbClr val="007A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51"/>
          <p:cNvSpPr/>
          <p:nvPr/>
        </p:nvSpPr>
        <p:spPr>
          <a:xfrm>
            <a:off x="548640" y="568764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Messy mail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52"/>
          <p:cNvSpPr/>
          <p:nvPr/>
        </p:nvSpPr>
        <p:spPr>
          <a:xfrm>
            <a:off x="548640" y="596196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Forwarded chains, HTML,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weird attachments.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53"/>
          <p:cNvSpPr/>
          <p:nvPr/>
        </p:nvSpPr>
        <p:spPr>
          <a:xfrm>
            <a:off x="3300840" y="5632560"/>
            <a:ext cx="2697120" cy="868320"/>
          </a:xfrm>
          <a:prstGeom prst="roundRect">
            <a:avLst>
              <a:gd name="adj" fmla="val 16667"/>
            </a:avLst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54"/>
          <p:cNvSpPr/>
          <p:nvPr/>
        </p:nvSpPr>
        <p:spPr>
          <a:xfrm>
            <a:off x="3392280" y="568764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 duplicates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55"/>
          <p:cNvSpPr/>
          <p:nvPr/>
        </p:nvSpPr>
        <p:spPr>
          <a:xfrm>
            <a:off x="3392280" y="596196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Same email twice must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 create two records.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56"/>
          <p:cNvSpPr/>
          <p:nvPr/>
        </p:nvSpPr>
        <p:spPr>
          <a:xfrm>
            <a:off x="6144840" y="5632560"/>
            <a:ext cx="2697120" cy="868320"/>
          </a:xfrm>
          <a:prstGeom prst="roundRect">
            <a:avLst>
              <a:gd name="adj" fmla="val 16667"/>
            </a:avLst>
          </a:prstGeom>
          <a:solidFill>
            <a:srgbClr val="1E8E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57"/>
          <p:cNvSpPr/>
          <p:nvPr/>
        </p:nvSpPr>
        <p:spPr>
          <a:xfrm>
            <a:off x="6236280" y="568764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 silent fail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8"/>
          <p:cNvSpPr/>
          <p:nvPr/>
        </p:nvSpPr>
        <p:spPr>
          <a:xfrm>
            <a:off x="6236280" y="596196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If parse breaks, we park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it and tell someone.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59"/>
          <p:cNvSpPr/>
          <p:nvPr/>
        </p:nvSpPr>
        <p:spPr>
          <a:xfrm>
            <a:off x="8988480" y="5632560"/>
            <a:ext cx="2697120" cy="868320"/>
          </a:xfrm>
          <a:prstGeom prst="roundRect">
            <a:avLst>
              <a:gd name="adj" fmla="val 16667"/>
            </a:avLst>
          </a:prstGeom>
          <a:solidFill>
            <a:srgbClr val="E871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60"/>
          <p:cNvSpPr/>
          <p:nvPr/>
        </p:nvSpPr>
        <p:spPr>
          <a:xfrm>
            <a:off x="9079920" y="568764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Proof it worked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61"/>
          <p:cNvSpPr/>
          <p:nvPr/>
        </p:nvSpPr>
        <p:spPr>
          <a:xfrm>
            <a:off x="9079920" y="5961960"/>
            <a:ext cx="2514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Logs, metrics, alerts,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replay for support.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541760" y="4498920"/>
            <a:ext cx="810360" cy="28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Unknown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2026-08-18T15:50:18Z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